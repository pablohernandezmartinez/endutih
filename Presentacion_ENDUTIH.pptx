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tema: no medimos solo si la gente accede a internet, sino la CALIDAD de ese acceso, usando el smartphone como indicador. Tres estados del sur con mayor rezago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pregunta se diseñó para aplicar una técnica distinta. La barrera que investigamos es la CALIDAD del acceso, no solo tener o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estados no se eligieron al azar: son los tres con mayor rezago digital del país según la propia ENDUTIH. La estratificación por entidad garantiza 100 casos de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Anuncio del equipo: insistir en que los descriptivos son la base. Sin describir la forma de la distribución no podríamos justificar la t ni el uso del TLC más adelante. La asimetría a la derecha ya se ve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gráfico, dos lecturas: la izquierda valida el diseño; la derecha es la primera evidencia visual de la brecha generacional.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moda confirma que el smartphone ya es el dispositivo dominante, incluso en la región más rezagada. Solo 35 casos de celular básico — esa escasez es una limitación que reconocemos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transición de lo descriptivo a lo inferencial: el patrón se ve, pero hace falta una prueba formal para descartar que sea 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Slide-glosario para el salón. Explicar p-valor vs α, dejar claro el ERROR TIPO I (instrucción de la profesora) y que α es su probabilidad, y los tres tamaños de efecto con sus umbrales. A partir de aquí cada prueba se lee con estas tres claves.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Prueba principal. Hipótesis tal cual el notebook (H3). Diferencia de 18 años con efecto grande. Reportar 4 decimales, error tipo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Único α = 0.005 (instrucción de la profesora). χ²=32.18 &gt; crítico 16.75. Hipótesis textuales del notebook H1. Error tipo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con la edad: aquí NO hay diferencia. Hipótesis textuales del notebook H2. El sexo no abre brecha — lo confirmará la regresión.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H4 cierra la sección de pruebas y sirve de puente a la regresión. Asociación significativa en ambos sexos, V un poco mayor en hombres. ¿Es real esa diferencia? Lo decide la interacción del modelo logístico.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factor de expansión convierte 300 casos en una estimación poblacional. La proporción sin ponderar cae dentro del IC: la muestra es representativa.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didáctica para el salón. Explicar despacio: 1) la respuesta es binaria; 2) la sigmoide mantiene la probabilidad entre 0 y 1; 3) el OR es la traducción interpretable. La curva de la derecha es la de NUESTRO modelo, no un ejemplo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corazón interpretativo. Explicar que OR=e^coef. La edad: -5% por año, y mostrar cómo se acumula por décadas (lo memorable). El sexo: IC del OR cruza el 1 =&gt; sin efecto.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H4 formalmente: el término edad×sexo no es significativo (p=0.734), así que la asociación generacional NO difiere por sexo. La diferencia de V de Cramér de la slide 11 era ruido. Modelo final =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diagnósticos en lenguaje sencillo: AUC (discrimina), McFadden (ajuste), VIF (sin colinealidad), Hosmer-Lemeshow (calibración). El modelo es modesto pero válido. Para principiantes: AUC es lo más intuitivo de explicar.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tesis: barrera generacional, no de género. Mencionar las tres limitaciones honestas. La recomendación de política es la implicación práctica del estudio.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9966960" y="6400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 digital y calidad del acceso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móvil en el sur de México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en Chiapas, Guerrero y Oaxaca a partir de la ENDUTIH 2022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47091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Reyes Calva Ángel David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Ciencia de Datos · Estadística · ESCOM–IPN · Grupo 4AM1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Profesora: Claudia García Blanquel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VARIABLES · PREGUNTAS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sur, qué medimos y qué nos preguntamos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806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salen los estados.  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ENDUTIH 2022 muestra un acceso desigual: en disposición de internet en el hogar, la Ciudad de México encabezó con 86.0 % mientras que Guerrero registró el menor con 53.6 %, seguido de Oaxaca. Esos mismos estados acumulan los índices de desarrollo humano más bajos. Por eso delimitamos el universo a Chiapas (07), Guerrero (12) y Oaxaca (20): las tres entidades con mayor rezago digital.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9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806440" cy="786384"/>
          </a:xfrm>
          <a:prstGeom prst="roundRect">
            <a:avLst>
              <a:gd name="adj" fmla="val 5814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381304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5403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8620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07008" y="3721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 — estratificación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07008" y="397764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07 Chiapas · 12 Guerrero · 20 Oaxaca. Solo se permiten estas entidades en las submuestras.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517136"/>
            <a:ext cx="5806440" cy="786384"/>
          </a:xfrm>
          <a:prstGeom prst="roundRect">
            <a:avLst>
              <a:gd name="adj" fmla="val 5814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" y="471830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9145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07008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(P8_4_2) — respuesta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207008" y="488289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celular que usa es inteligente? 1 = Sí · 2 = No. Variable binaria → habilita χ² y regresión logística.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5422392"/>
            <a:ext cx="5806440" cy="786384"/>
          </a:xfrm>
          <a:prstGeom prst="roundRect">
            <a:avLst>
              <a:gd name="adj" fmla="val 5814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" y="562356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8A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96712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— covariable principal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207008" y="57881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Cuantitativa, en años. La apropiación tecnológica está fuertemente estratificada por edad.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583680" y="1627632"/>
            <a:ext cx="5102352" cy="4617720"/>
          </a:xfrm>
          <a:prstGeom prst="roundRect">
            <a:avLst>
              <a:gd name="adj" fmla="val 1188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8580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PREGUNTAS DEL ESTUDIO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58000" y="2286000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452360" y="22494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 medias (t de Student)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45236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edad media difiere entre quienes usan smartphone y quienes usan celular común?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858000" y="3584448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31" name="Text 26"/>
          <p:cNvSpPr/>
          <p:nvPr/>
        </p:nvSpPr>
        <p:spPr>
          <a:xfrm>
            <a:off x="68580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7452360" y="3547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categórica (χ² y z de proporciones)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452360" y="4041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¿Edad y tipo de celular son independientes? ¿La proporción de smartphone difiere por sexo?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858000" y="4882896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35" name="Text 30"/>
          <p:cNvSpPr/>
          <p:nvPr/>
        </p:nvSpPr>
        <p:spPr>
          <a:xfrm>
            <a:off x="685800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7452360" y="4846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452360" y="534009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factores —edad y sexo— se asocian con usar smartphone, y existe interacción entre ellos?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MUESTRAL · ESTRATIFICADO POR ENTIDAD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submuestras de 100, una combinada de 300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la tabla de Usuarios de la ENDUTIH 2022 (INEGI/IFT). Filtramos a personas de seis años o más con teléfono celular en las tres entidades de interés y aplicamos un muestreo estratificado por estado: 100 registros por entidad (Chiapas, Guerrero, Oaxaca), tomados aleatoriamente con semilla fija. La unión forma la muestra combinada de 300, que después se reparte en tres submuestras y se separa por sexo para los análisis comparativos.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1188720" cy="1417320"/>
          </a:xfrm>
          <a:prstGeom prst="roundRect">
            <a:avLst>
              <a:gd name="adj" fmla="val 538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9593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48 988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4453128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sin nulos</a:t>
            </a:r>
            <a:endParaRPr lang="en-US" sz="8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EDAD, P8_4_2, SEXO, 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73352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828800" y="3794760"/>
            <a:ext cx="1188720" cy="1417320"/>
          </a:xfrm>
          <a:prstGeom prst="roundRect">
            <a:avLst>
              <a:gd name="adj" fmla="val 538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39593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estados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92808" y="4453128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Chiapas 07 · Guerrero 12</a:t>
            </a:r>
            <a:endParaRPr lang="en-US" sz="8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Oaxaca 20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99232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154680" y="3794760"/>
            <a:ext cx="1188720" cy="1417320"/>
          </a:xfrm>
          <a:prstGeom prst="roundRect">
            <a:avLst>
              <a:gd name="adj" fmla="val 538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39593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× 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218688" y="4453128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estratificado</a:t>
            </a:r>
            <a:endParaRPr lang="en-US" sz="8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(semilla = 42)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25112" y="4206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480560" y="3794760"/>
            <a:ext cx="1188720" cy="1417320"/>
          </a:xfrm>
          <a:prstGeom prst="roundRect">
            <a:avLst>
              <a:gd name="adj" fmla="val 5385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9593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44568" y="4453128"/>
            <a:ext cx="1060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combinada →</a:t>
            </a:r>
            <a:endParaRPr lang="en-US" sz="8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submuestras + por sexo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1627632"/>
            <a:ext cx="4919472" cy="4617720"/>
          </a:xfrm>
          <a:prstGeom prst="roundRect">
            <a:avLst>
              <a:gd name="adj" fmla="val 1188"/>
            </a:avLst>
          </a:prstGeom>
          <a:solidFill>
            <a:srgbClr val="1B335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951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ESTADOS</a:t>
            </a:r>
            <a:endParaRPr lang="en-US" sz="12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377440"/>
            <a:ext cx="457200" cy="4572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352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Chiapas  </a:t>
            </a:r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07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635240" y="2715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hogar entre los más bajos del país</a:t>
            </a:r>
            <a:endParaRPr lang="en-US" sz="11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61188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63524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Guerrero  </a:t>
            </a:r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12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7635240" y="3950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53.6 % — la menor disposición de internet nacional</a:t>
            </a:r>
            <a:endParaRPr lang="en-US" sz="11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846320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6352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Oaxaca  </a:t>
            </a:r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20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7635240" y="5184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lugar de menor conectividad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· DISTRIBUCIÓN DE EDAD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empezamos por los descriptivos</a:t>
            </a:r>
            <a:endParaRPr lang="en-US" sz="2700" dirty="0"/>
          </a:p>
        </p:txBody>
      </p:sp>
      <p:pic>
        <p:nvPicPr>
          <p:cNvPr id="7" name="Image 0" descr="/home/claude/work/img/EDA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16342"/>
            <a:ext cx="7315200" cy="17967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956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Histograma de EDAD por submuestra; línea roja = media, verde = mediana.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elaboración propia, notebook EDA (ENDUTIH 2022).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092440" y="1691640"/>
            <a:ext cx="3593592" cy="4206240"/>
          </a:xfrm>
          <a:prstGeom prst="roundRect">
            <a:avLst>
              <a:gd name="adj" fmla="val 152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93608" y="183794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GRÁFICO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93608" y="2148840"/>
            <a:ext cx="320954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inferir, describimos.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estadísticos descriptivos justifican qué prueba es lícita después: con ellos vemos forma, centro y dispersión.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 estables: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 · 35.8 · 37.3 entre las tres submuestras — el muestreo es homogéneo.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combinada: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36.8233 años (rango 6–81).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&gt; mediana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panel: hay asimetría a la derecha (cola de adultos mayores). Eso anticipa por qué la edad importará.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DESCRIPTIVOS · DISPERSIÓN Y OUTLIERS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Cajas iguales confirman el muestreo; cajas distintas revelan el patrón</a:t>
            </a:r>
            <a:endParaRPr lang="en-US" sz="2700" dirty="0"/>
          </a:p>
        </p:txBody>
      </p:sp>
      <p:pic>
        <p:nvPicPr>
          <p:cNvPr id="7" name="Image 0" descr="/home/claude/work/img/EDA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66416"/>
            <a:ext cx="7315200" cy="3033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Izq.: EDAD por submuestra. Der.: EDAD según tipo de celular (1 = Smartphone, 2 = Básico).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elaboración propia, notebook EDA.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092440" y="1691640"/>
            <a:ext cx="3593592" cy="2057400"/>
          </a:xfrm>
          <a:prstGeom prst="roundRect">
            <a:avLst>
              <a:gd name="adj" fmla="val 266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93608" y="183794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IGUALES (IZQ.)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93608" y="2148840"/>
            <a:ext cx="320954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Q1, mediana y Q3 casi coinciden entre las tres submuestras →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muestreo estratificado es correcto y reproducible.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92440" y="3886200"/>
            <a:ext cx="3593592" cy="2011680"/>
          </a:xfrm>
          <a:prstGeom prst="roundRect">
            <a:avLst>
              <a:gd name="adj" fmla="val 272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93608" y="403250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DISTINTAS (DER.)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93608" y="4343400"/>
            <a:ext cx="32095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≈ 34 años en Smartphone vs ≈ 53 en Básico.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contraste ya sugiere la diferencia de medias que la prueba t confirmará.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DESCRIPTIVOS · FRECUENCIA Y MODA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moda es clara: la inmensa mayoría usa smartphone</a:t>
            </a:r>
            <a:endParaRPr lang="en-US" sz="2700" dirty="0"/>
          </a:p>
        </p:txBody>
      </p:sp>
      <p:pic>
        <p:nvPicPr>
          <p:cNvPr id="7" name="Image 0" descr="/home/claude/work/img/EDA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259" y="1828800"/>
            <a:ext cx="4665562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074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Distribución de P8_4_2 (tipo de celular) por submuestra.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elaboración propia, notebook EDA.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6948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MODA: P8_4_2 = 1 (SMARTPHONE)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057400"/>
          <a:ext cx="441655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Submuestra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269480" y="4572000"/>
            <a:ext cx="4416552" cy="1325880"/>
          </a:xfrm>
          <a:prstGeom prst="roundRect">
            <a:avLst>
              <a:gd name="adj" fmla="val 4828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269480" y="4709160"/>
            <a:ext cx="4416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88.3333 %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7452360" y="5413248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smartphone en la muestra combinada (265 / 300).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DESCRIPTIVOS · PROPORCIÓN POR GRUPO DE EDAD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 aumenta la edad, cae la proporción de smartphone</a:t>
            </a:r>
            <a:endParaRPr lang="en-US" sz="2700" dirty="0"/>
          </a:p>
        </p:txBody>
      </p:sp>
      <p:pic>
        <p:nvPicPr>
          <p:cNvPr id="7" name="Image 0" descr="/home/claude/work/img/EDA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036" y="1783080"/>
            <a:ext cx="5366327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029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Tendencia del tipo de celular por grupo de edad (muestra combinada).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elaboración propia, notebook EDA.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54380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CONTINGENCIA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057400"/>
          <a:ext cx="4142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23544"/>
                <a:gridCol w="923544"/>
                <a:gridCol w="92354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543800" y="498348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 → 70 %.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menores de 18 a los mayores de 60, la proporción de smartphone cae con claridad. La señal visual será confirmada por la χ².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LAS PRUEBAS DE HIPÓTESIS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las pruebas: cómo leer estos resultados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que se repiten en todas las pruebas que siguen. Conviene tenerlas claras para interpretar cada slide.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3310128"/>
          </a:xfrm>
          <a:prstGeom prst="roundRect">
            <a:avLst>
              <a:gd name="adj" fmla="val 1934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EL p-VALOR Y 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67004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probabilidad de ver estos datos (o más extremos) si H₀ fuera cierta.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comparamos con el nivel de significancia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α  →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H₀ (hay efecto).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B5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α  →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rechaza H₀.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α = 0.05, salvo la χ² de independencia, donde exigimos α = 0.005 (más estricto).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3611880" cy="3310128"/>
          </a:xfrm>
          <a:prstGeom prst="roundRect">
            <a:avLst>
              <a:gd name="adj" fmla="val 1934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ERROR TIPO 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267004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riesgo de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H₀ cuando en realidad era cierta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“falso positivo”.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probabilidad es exactamente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error que controlamos en todo el estudio. </a:t>
            </a:r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α a 0.005 en la χ² reduce ese riesgo: solo afirmamos asociación con evidencia muy fuerte.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2148840"/>
            <a:ext cx="3611880" cy="3310128"/>
          </a:xfrm>
          <a:prstGeom prst="roundRect">
            <a:avLst>
              <a:gd name="adj" fmla="val 1934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TAMAÑO DEL EFECTO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02752" y="2670048"/>
            <a:ext cx="3200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dice </a:t>
            </a:r>
            <a:pPr indent="0" marL="0">
              <a:lnSpc>
                <a:spcPct val="104000"/>
              </a:lnSpc>
              <a:buNone/>
            </a:pPr>
            <a:r>
              <a:rPr lang="en-US" sz="115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hay efecto; el tamaño del efecto dice </a:t>
            </a:r>
            <a:pPr indent="0" marL="0">
              <a:lnSpc>
                <a:spcPct val="104000"/>
              </a:lnSpc>
              <a:buNone/>
            </a:pPr>
            <a:r>
              <a:rPr lang="en-US" sz="115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grande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es. Tres que usamos: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de Cohen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(diferencia de medias): cuanto mayor su valor absoluto, mayor la separación entre grupos.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de Cohen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(diferencia de proporciones): ~0 indica que no hay diferencia práctica.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de Cramér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(asociación categórica), 0 a 1, como en el notebook: &lt;0.10 muy débil · 0.10–0.30 débil · 0.30–0.50 moderada · ≥0.50 fuerte.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· PRUEBA T DE MEDIAS (H3)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 — Quienes usan smartphone son ~18 años más jóvenes</a:t>
            </a:r>
            <a:endParaRPr lang="en-US" sz="2700" dirty="0"/>
          </a:p>
        </p:txBody>
      </p:sp>
      <p:pic>
        <p:nvPicPr>
          <p:cNvPr id="7" name="Image 0" descr="/home/claude/work/img/prueba_hipotesis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961" y="1783080"/>
            <a:ext cx="3970159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138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Edad promedio según tipo de celular, con IC 95 %.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notebook de pruebas de hipótesis.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83480" y="1691640"/>
            <a:ext cx="3246120" cy="4206240"/>
          </a:xfrm>
          <a:prstGeom prst="roundRect">
            <a:avLst>
              <a:gd name="adj" fmla="val 169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84648" y="183794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(H3) · α = 0.05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84648" y="2148840"/>
            <a:ext cx="286207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edad promedio difiere entre quienes usan smartphone y quienes usan teléfono básico?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µ_smart = µ_básico.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µ_smart ≠ µ_básico.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t es lícita: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 no detecta diferencia de varianzas (F = 0.3220, p = 0.5708); Shapiro rechaza normalidad en smartphone, pero con n = 265 se aplica el Teorema del Límite Central.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58200" y="1691640"/>
            <a:ext cx="3227832" cy="4206240"/>
          </a:xfrm>
          <a:prstGeom prst="roundRect">
            <a:avLst>
              <a:gd name="adj" fmla="val 1983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0" y="2194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34.6868 años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0" y="2523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· smartphone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0" y="2852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53.0000 años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686800" y="3182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· básico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0" y="35112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18.3132 años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(IC: 12.3–24.3)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0" y="41696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−5.6670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686800" y="4498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686800" y="4828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−1.0190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686800" y="5157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de Cohen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 rechaza H₀.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Χ² DE INDEPENDENCIA (H1)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— Edad y tipo de celular sí están asociados (α = 0.005)</a:t>
            </a:r>
            <a:endParaRPr lang="en-US" sz="2700" dirty="0"/>
          </a:p>
        </p:txBody>
      </p:sp>
      <p:pic>
        <p:nvPicPr>
          <p:cNvPr id="7" name="Image 0" descr="/home/claude/work/img/prueba_hipotesis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38027"/>
            <a:ext cx="6126480" cy="3044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9834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Distribución χ²(5); χ² = 32.18 cae en la zona de rechazo frente al crítico 16.75.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notebook de pruebas de hipótesis.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0" y="1691640"/>
            <a:ext cx="4828032" cy="233172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59168" y="1837944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(H1) · α = 0.005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59168" y="2148840"/>
            <a:ext cx="444398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relación entre la edad y el tipo de celular?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agrupada y el tipo de celular son independientes en la población.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asociación entre ambas.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H₀ si χ² &gt; 16.75 (5 g.l.) o p &lt; 0.005 — único contraste a 0.005.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0" y="41605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0" y="4251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32.1820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4636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calculada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290304" y="416052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90304" y="4251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16.7500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290304" y="4636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crítico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50292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0" y="5120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0.000005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0" y="5504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290304" y="502920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290304" y="5120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0.3280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290304" y="55046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de Cramér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0" y="59436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 rechaza H₀  </a:t>
            </a:r>
            <a:pPr indent="0" marL="0">
              <a:buNone/>
            </a:pPr>
            <a:r>
              <a:rPr lang="en-US" sz="12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asociación moderada (V ≈ 0.33).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Z DE PROPORCIONES POR SEXO (H2)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— No hay brecha de género en el uso de smartphone</a:t>
            </a:r>
            <a:endParaRPr lang="en-US" sz="2700" dirty="0"/>
          </a:p>
        </p:txBody>
      </p:sp>
      <p:pic>
        <p:nvPicPr>
          <p:cNvPr id="7" name="Image 0" descr="/home/claude/work/img/prueba_hipotesis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66" y="1783080"/>
            <a:ext cx="3963508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138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Proporción de usuarios de smartphone por sexo, con IC 95 %.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notebook de pruebas de hipótesis.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46320" y="1691640"/>
            <a:ext cx="3291840" cy="4206240"/>
          </a:xfrm>
          <a:prstGeom prst="roundRect">
            <a:avLst>
              <a:gd name="adj" fmla="val 166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47488" y="18379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(H2) · α = 0.05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47488" y="2148840"/>
            <a:ext cx="290779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diferencia en la probabilidad de tener smartphone según el sexo?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p_h = p_m (igual proporción).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p_h ≠ p_m.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z: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es binaria y comparamos dos grupos independientes (sexo); la z de proporciones es el contraste natural. Proporciones casi idénticas, IC se solapan.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366760" y="1691640"/>
            <a:ext cx="3319272" cy="4206240"/>
          </a:xfrm>
          <a:prstGeom prst="roundRect">
            <a:avLst>
              <a:gd name="adj" fmla="val 1928"/>
            </a:avLst>
          </a:prstGeom>
          <a:solidFill>
            <a:srgbClr val="1B335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953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95360" y="2194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0.8850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59536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· hombres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595360" y="2852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0.8820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595360" y="3163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· mujeres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595360" y="3511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0.1030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59536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0.9182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95360" y="4169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0.0120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859536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de Cohen (≈ 0)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595360" y="48280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[−0.069, 0.077]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595360" y="5138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contiene el cero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59536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se rechaza H₀.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ANÁLISIS ESTRATIFICADO (H4)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 — ¿La asociación edad–celular difiere entre sexos?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regresión, exploramos si la fuerza de la relación entre edad y tipo de celular es la misma en hombres y mujeres. Repetimos la χ² por separado en cada grupo y comparamos la V de Cramér. Es un paso </a:t>
            </a:r>
            <a:pPr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exploratorio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insinúa si podría haber interacción, pero la prueba formal se hará con el término edad × sexo del modelo logístico.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5486400" cy="2697480"/>
          </a:xfrm>
          <a:prstGeom prst="roundRect">
            <a:avLst>
              <a:gd name="adj" fmla="val 2034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3924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(H4) · α = 0.05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3703320"/>
            <a:ext cx="510235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fuerza de asociación entre edad y tipo de celular es la misma en hombres y mujeres.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asociación es diferente (se compara con la V de Cramér y, después, con un modelo de interacción).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asociación es significativa en ambos sexos y algo más fuerte en hombres, pero la diferencia podría ser azar — sólo la interacción lo dirá.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1783080"/>
            <a:ext cx="5330952" cy="1920240"/>
          </a:xfrm>
          <a:prstGeom prst="roundRect">
            <a:avLst>
              <a:gd name="adj" fmla="val 3333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Hombres (n = 131)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de Cramér = 0.4150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29900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22.5240   ·  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0.000416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3931920"/>
            <a:ext cx="5330952" cy="1920240"/>
          </a:xfrm>
          <a:prstGeom prst="roundRect">
            <a:avLst>
              <a:gd name="adj" fmla="val 3333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Mujeres (n = 169)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de Cramér = 0.3270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5138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18.1200   ·  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0.002799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POBLACIONAL · FACTOR DE EXPANSIÓN (FAC_PER)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el factor de expansión, la muestra es representativa</a:t>
            </a:r>
            <a:endParaRPr lang="en-US" sz="2700" dirty="0"/>
          </a:p>
        </p:txBody>
      </p:sp>
      <p:pic>
        <p:nvPicPr>
          <p:cNvPr id="7" name="Image 0" descr="/home/claude/work/img/factor_expansion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86410"/>
            <a:ext cx="3611880" cy="2993739"/>
          </a:xfrm>
          <a:prstGeom prst="rect">
            <a:avLst/>
          </a:prstGeom>
        </p:spPr>
      </p:pic>
      <p:pic>
        <p:nvPicPr>
          <p:cNvPr id="8" name="Image 1" descr="/home/claude/work/img/factor_expansion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886410"/>
            <a:ext cx="3611880" cy="29937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5074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— Proporción muestral vs ponderada (poblacional).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notebook factor de expansión.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160520" y="5074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Proporción poblacional por sexo, IC 95 %.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notebook factor de expansión.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001000" y="1691640"/>
            <a:ext cx="3685032" cy="4206240"/>
          </a:xfrm>
          <a:prstGeom prst="roundRect">
            <a:avLst>
              <a:gd name="adj" fmla="val 1489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02168" y="183794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MUESTRA A LA POBLACIÓN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202168" y="2148840"/>
            <a:ext cx="3300984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FAC_PER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 cada registro por la cantidad de personas que representa en la población.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poblacional: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0.9009 (IC 95 %: 0.8641–0.9377), EE = 0.0188.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Muestral sin ponderar: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0.8833 — difiere solo 0.0176 y cae dentro del IC ponderado.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sexo: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0.8903 (IC 0.8312–0.9494), mujeres 0.9103 (IC 0.8650–0.9556). Los IC se solapan: sin brecha de género también en la población.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REGRESIÓN LOGÍSTICA — INTUICIÓN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3 — ¿Qué es una regresión logística y por qué la usamos?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FBEEDD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6642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metodológica. 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prueba ajustada con bibliotecas de Python (statsmodels y scikit-learn): el tema excede el temario del curso y aún no lo hemos visto en clase.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5943600" cy="105156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816352"/>
            <a:ext cx="457200" cy="457200"/>
          </a:xfrm>
          <a:prstGeom prst="ellipse">
            <a:avLst/>
          </a:prstGeom>
          <a:solidFill>
            <a:srgbClr val="10203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8448" y="2660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es Sí/No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98448" y="2990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predecir una variable binaria: usar smartphone (1) o no (0). Una recta normal podría dar “probabilidades” mayores que 1 o menores que 0, lo cual no tiene sentido.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685032"/>
            <a:ext cx="5943600" cy="105156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986784"/>
            <a:ext cx="457200" cy="457200"/>
          </a:xfrm>
          <a:prstGeom prst="ellipse">
            <a:avLst/>
          </a:prstGeom>
          <a:solidFill>
            <a:srgbClr val="1020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8448" y="38313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S resuelve eso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98448" y="4160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logística transforma cualquier número en un valor entre 0 y 1 mediante la función sigmoide. Así la predicción siempre es una probabilidad válida.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855464"/>
            <a:ext cx="5943600" cy="105156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5157216"/>
            <a:ext cx="457200" cy="457200"/>
          </a:xfrm>
          <a:prstGeom prst="ellipse">
            <a:avLst/>
          </a:prstGeom>
          <a:solidFill>
            <a:srgbClr val="1020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8448" y="50017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Hablamos en momios (odds)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98448" y="5330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“sube X”, el modelo dice cuántas veces cambian los momios — la razón entre la probabilidad de Sí y la de No. Ese número es el Odds Ratio (OR).</a:t>
            </a:r>
            <a:endParaRPr lang="en-US" sz="1050" dirty="0"/>
          </a:p>
        </p:txBody>
      </p:sp>
      <p:pic>
        <p:nvPicPr>
          <p:cNvPr id="24" name="Image 0" descr="/home/claude/work/img/logit_cur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175" y="2514600"/>
            <a:ext cx="5001370" cy="31089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29400" y="56509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 — Curva logística estimada con nuestros coeficientes: P(smartphone) baja al subir la edad.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elaboración propia a partir del modelo (notebook de regresión).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MODELO BASE E INTERPRETACIÓN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base: la edad predice, el sexo no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1183112" cy="749808"/>
          </a:xfrm>
          <a:prstGeom prst="roundRect">
            <a:avLst>
              <a:gd name="adj" fmla="val 7317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600200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  P(smartphone)  =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4.2636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−  </a:t>
            </a:r>
            <a:pPr indent="0" marL="0">
              <a:buNone/>
            </a:pPr>
            <a:r>
              <a:rPr lang="en-US" sz="1600" b="1" dirty="0">
                <a:solidFill>
                  <a:srgbClr val="D9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0.0517 · EDAD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indent="0" marL="0">
              <a:buNone/>
            </a:pPr>
            <a:r>
              <a:rPr lang="en-US" sz="1600" b="1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0.0155 · SEXO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Y ODDS RATIOS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3464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1325880"/>
                <a:gridCol w="178308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= e^coef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95 % del 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4.2636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71.0625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[14.59, 346.15]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[0.9304, 0.9692]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[0.4774, 2.1605]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543800" y="2514600"/>
            <a:ext cx="4142232" cy="3291840"/>
          </a:xfrm>
          <a:prstGeom prst="roundRect">
            <a:avLst>
              <a:gd name="adj" fmla="val 166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44968" y="2660904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EL OR DE LA EDAD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44968" y="2971800"/>
            <a:ext cx="37581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0.9496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que por cada año más de edad, los momios de usar smartphone se multiplican por 0.95 → caen ~5 %.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se acumula: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años → ×0.7721 (−22.8 %)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años → ×0.5962 (−40.4 %)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años → ×0.3554 (−64.5 %)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B5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SEXO: OR = 1.0156, p = 0.9680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significativo. El IC del OR incluye el 1, así que el sexo no aporta.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58978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rápida: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&lt; 1 reduce la probabilidad · OR &gt; 1 la aumenta · OR = 1 (o IC que cruza el 1) = sin efecto.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¿HAY INTERACCIÓN EDAD × SEXO?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¿La caída por edad es distinta en hombres y mujeres?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responder a H4 de forma formal añadimos un término de interacción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× SEXO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modelo. Si fuera significativo, la pendiente de la edad cambiaría según el sexo. Comparamos el modelo con y sin interacción mediante la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razón de verosimilitud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(compara qué tan bien ajusta cada modelo).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32461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+ sexo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Log-Likelihood: −93.850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 R²: 0.1316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0.7690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74320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16552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 INTERACCIÓN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16552" y="32461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+ sexo + edad×sexo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Log-Likelihood: −93.792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 R²: 0.1321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0.7700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5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edad×sexo: p = 0.7340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09560" y="2743200"/>
            <a:ext cx="3776472" cy="3200400"/>
          </a:xfrm>
          <a:prstGeom prst="roundRect">
            <a:avLst>
              <a:gd name="adj" fmla="val 2000"/>
            </a:avLst>
          </a:prstGeom>
          <a:solidFill>
            <a:srgbClr val="10203A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2926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RAZÓN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VEROSIMILITUD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deviance = 0.1150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3816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0.7340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38160" y="4663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interacción no mejora el ajuste (p ≫ 0.05). Se descarta: la caída por edad es igual en ambos sexos.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de H4:  </a:t>
            </a:r>
            <a:pPr indent="0" marL="0">
              <a:buNone/>
            </a:pPr>
            <a:r>
              <a:rPr lang="en-US" sz="11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de V de Cramér entre sexos era azar. El modelo final se queda en edad + sexo.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VALIDACIÓN DEL MODELO FINAL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ENDUTIH 2022 · INEGI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0" y="6510528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A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Hernández Martínez Pablo · Reyes Calva Ángel David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confiable el modelo? Cuatro diagnósticos</a:t>
            </a:r>
            <a:endParaRPr lang="en-US" sz="2700" dirty="0"/>
          </a:p>
        </p:txBody>
      </p:sp>
      <p:pic>
        <p:nvPicPr>
          <p:cNvPr id="7" name="Image 0" descr="/home/claude/work/img/regresion_logistica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225" y="1783080"/>
            <a:ext cx="4416829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1389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11 — Curva ROC: base (AUC 0.769) vs interacción (AUC 0.770); casi idénticas.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Fuente: notebook de regresión logística.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40680" y="1783080"/>
            <a:ext cx="62453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1901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Discriminación — AUC-ROC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0.7690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669280" y="2221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ordenar bien a un usuario de smartphone frente a uno de básico. 0.77 = discriminación aceptable.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2862072"/>
            <a:ext cx="62453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29809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global — McFadden R²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0" y="2953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0.1316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669280" y="330098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regresión logística, valores de 0.2–0.4 ya indican buen ajuste; 0.13 es un ajuste modesto pero razonable con solo dos variables.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40680" y="3941064"/>
            <a:ext cx="62453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4059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— VIF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01200" y="4032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1.0000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669280" y="4379976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sexo no están correlacionadas entre sí (VIF ideal = 1). Los coeficientes son estables e interpretables.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40680" y="5020056"/>
            <a:ext cx="62453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69280" y="5138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— Hosmer-Lemeshow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601200" y="5111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0.1002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669280" y="545896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0.05: las probabilidades predichas concuerdan con las observadas. El modelo está bien calibrado.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barrera es generacional, no de género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1B335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8A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7249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edad pesa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usan smartphone son ~18 años más jóvenes (d = −1.0190). χ² confirma la asociación (p ≈ 0.000005) y la regresión la cuantifica: −5 % por año.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1B335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6060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7249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sexo no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17720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Proporciones idénticas (88.5 % vs 88.2 %, p = 0.9182). Ni la z, ni la χ² por sexo, ni la regresión detectan brecha de género.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331720"/>
            <a:ext cx="3429000" cy="2697480"/>
          </a:xfrm>
          <a:prstGeom prst="roundRect">
            <a:avLst>
              <a:gd name="adj" fmla="val 2712"/>
            </a:avLst>
          </a:prstGeom>
          <a:solidFill>
            <a:srgbClr val="1B3358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6060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5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7249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21040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políticas de inclusión digital deberían enfocarse en las personas mayores, con independencia de su sexo.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Limitaciones.  </a:t>
            </a:r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AE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35 casos de celular básico amplían la incertidumbre del grupo; el análisis cubre tres entidades (no extrapolable al país); y al ser datos observacionales describimos asociación, no causalidad.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·  ENDUTIH 2022 · INEGI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Brecha digital en el sur de México</dc:title>
  <dc:subject>PptxGenJS Presentation</dc:subject>
  <dc:creator>Hernández Martínez Pablo · Reyes Calva Ángel David</dc:creator>
  <cp:lastModifiedBy>Hernández Martínez Pablo · Reyes Calva Ángel David</cp:lastModifiedBy>
  <cp:revision>1</cp:revision>
  <dcterms:created xsi:type="dcterms:W3CDTF">2026-06-20T02:00:35Z</dcterms:created>
  <dcterms:modified xsi:type="dcterms:W3CDTF">2026-06-20T02:00:35Z</dcterms:modified>
</cp:coreProperties>
</file>